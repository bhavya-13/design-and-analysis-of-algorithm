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1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>
                <a:alpha val="17255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1352" y="1372676"/>
            <a:ext cx="10676077" cy="7587825"/>
            <a:chOff x="0" y="0"/>
            <a:chExt cx="14234770" cy="101170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34795" cy="10117074"/>
            </a:xfrm>
            <a:custGeom>
              <a:avLst/>
              <a:gdLst/>
              <a:ahLst/>
              <a:cxnLst/>
              <a:rect r="r" b="b" t="t" l="l"/>
              <a:pathLst>
                <a:path h="10117074" w="14234795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14166214" y="0"/>
                  </a:lnTo>
                  <a:cubicBezTo>
                    <a:pt x="14204060" y="0"/>
                    <a:pt x="14234795" y="30734"/>
                    <a:pt x="14234795" y="68580"/>
                  </a:cubicBezTo>
                  <a:lnTo>
                    <a:pt x="14234795" y="10048494"/>
                  </a:lnTo>
                  <a:cubicBezTo>
                    <a:pt x="14234795" y="10086339"/>
                    <a:pt x="14204060" y="10117074"/>
                    <a:pt x="14166214" y="10117074"/>
                  </a:cubicBezTo>
                  <a:lnTo>
                    <a:pt x="68580" y="10117074"/>
                  </a:lnTo>
                  <a:cubicBezTo>
                    <a:pt x="30734" y="10117074"/>
                    <a:pt x="0" y="10086339"/>
                    <a:pt x="0" y="10048494"/>
                  </a:cubicBezTo>
                  <a:close/>
                </a:path>
              </a:pathLst>
            </a:custGeom>
            <a:solidFill>
              <a:srgbClr val="072319">
                <a:alpha val="73725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77667" y="2206676"/>
            <a:ext cx="9303439" cy="186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806" spc="-15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Knapsack Problem in C, Made Easy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667" y="4344410"/>
            <a:ext cx="2325862" cy="76114"/>
            <a:chOff x="0" y="0"/>
            <a:chExt cx="3101150" cy="101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01213" cy="101600"/>
            </a:xfrm>
            <a:custGeom>
              <a:avLst/>
              <a:gdLst/>
              <a:ahLst/>
              <a:cxnLst/>
              <a:rect r="r" b="b" t="t" l="l"/>
              <a:pathLst>
                <a:path h="101600" w="310121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3050413" y="0"/>
                  </a:lnTo>
                  <a:cubicBezTo>
                    <a:pt x="3078480" y="0"/>
                    <a:pt x="3101213" y="22733"/>
                    <a:pt x="3101213" y="50800"/>
                  </a:cubicBezTo>
                  <a:cubicBezTo>
                    <a:pt x="3101213" y="78867"/>
                    <a:pt x="3078480" y="101600"/>
                    <a:pt x="3050413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77667" y="4983118"/>
            <a:ext cx="9303439" cy="53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Dynamic Programming Explained Simply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7667" y="6059834"/>
            <a:ext cx="9303439" cy="91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Name</a:t>
            </a: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Bhavya Agrawal</a:t>
            </a:r>
          </a:p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PRN: 25070521016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77667" y="7232152"/>
            <a:ext cx="343157" cy="343167"/>
            <a:chOff x="0" y="0"/>
            <a:chExt cx="457543" cy="45755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2424351"/>
            <a:ext cx="10027882" cy="169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What is the Knapsack Problem?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4287860"/>
            <a:ext cx="10027882" cy="260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A bag has limited capacity.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Each item has a weight and a value.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Pick items for maximum total value without exceeding capacity.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b="true" sz="2702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0/1 knapsack: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each item is taken once or left behind.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7105355"/>
            <a:ext cx="10027882" cy="9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Examples: packing a bag; choosing projects with a limited budget.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91163" y="0"/>
            <a:ext cx="6710677" cy="10295039"/>
            <a:chOff x="0" y="0"/>
            <a:chExt cx="8947569" cy="13726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4753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947531">
                  <a:moveTo>
                    <a:pt x="0" y="0"/>
                  </a:moveTo>
                  <a:lnTo>
                    <a:pt x="8947531" y="0"/>
                  </a:lnTo>
                  <a:lnTo>
                    <a:pt x="89475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19934" y="533819"/>
            <a:ext cx="5681196" cy="9227410"/>
            <a:chOff x="0" y="0"/>
            <a:chExt cx="7574928" cy="1230321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574915" cy="12303252"/>
            </a:xfrm>
            <a:custGeom>
              <a:avLst/>
              <a:gdLst/>
              <a:ahLst/>
              <a:cxnLst/>
              <a:rect r="r" b="b" t="t" l="l"/>
              <a:pathLst>
                <a:path h="12303252" w="7574915">
                  <a:moveTo>
                    <a:pt x="0" y="0"/>
                  </a:moveTo>
                  <a:lnTo>
                    <a:pt x="7574915" y="0"/>
                  </a:lnTo>
                  <a:lnTo>
                    <a:pt x="7574915" y="12303252"/>
                  </a:lnTo>
                  <a:lnTo>
                    <a:pt x="0" y="1230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" t="0" r="-3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704441" y="9797415"/>
            <a:ext cx="597398" cy="308762"/>
            <a:chOff x="0" y="0"/>
            <a:chExt cx="796531" cy="411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6534" cy="411682"/>
            </a:xfrm>
            <a:custGeom>
              <a:avLst/>
              <a:gdLst/>
              <a:ahLst/>
              <a:cxnLst/>
              <a:rect r="r" b="b" t="t" l="l"/>
              <a:pathLst>
                <a:path h="411682" w="796534">
                  <a:moveTo>
                    <a:pt x="0" y="0"/>
                  </a:moveTo>
                  <a:lnTo>
                    <a:pt x="796534" y="0"/>
                  </a:lnTo>
                  <a:lnTo>
                    <a:pt x="79653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312" t="0" r="-1631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96531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822598"/>
            <a:ext cx="16929202" cy="81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Which items maximize value?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324" y="2617070"/>
            <a:ext cx="6039545" cy="16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3"/>
              </a:lnSpc>
            </a:pPr>
            <a:r>
              <a:rPr lang="en-US" b="true" sz="14411" spc="-288">
                <a:solidFill>
                  <a:srgbClr val="C5E35A"/>
                </a:solidFill>
                <a:latin typeface="Arimo Bold"/>
                <a:ea typeface="Arimo Bold"/>
                <a:cs typeface="Arimo Bold"/>
                <a:sym typeface="Arimo Bold"/>
              </a:rPr>
              <a:t>W = 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324" y="4516641"/>
            <a:ext cx="6039545" cy="161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Capacity W = 8</a:t>
            </a:r>
          </a:p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Question: which items give the maximum value?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183260" y="1862547"/>
            <a:ext cx="10432256" cy="4641113"/>
            <a:chOff x="0" y="0"/>
            <a:chExt cx="13909675" cy="6188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9675" cy="6188075"/>
            </a:xfrm>
            <a:custGeom>
              <a:avLst/>
              <a:gdLst/>
              <a:ahLst/>
              <a:cxnLst/>
              <a:rect r="r" b="b" t="t" l="l"/>
              <a:pathLst>
                <a:path h="6188075" w="1390967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13665708" y="0"/>
                  </a:lnTo>
                  <a:cubicBezTo>
                    <a:pt x="13800455" y="0"/>
                    <a:pt x="13909675" y="109220"/>
                    <a:pt x="13909675" y="243967"/>
                  </a:cubicBezTo>
                  <a:lnTo>
                    <a:pt x="13909675" y="5944108"/>
                  </a:lnTo>
                  <a:cubicBezTo>
                    <a:pt x="13909675" y="6078855"/>
                    <a:pt x="13800455" y="6188075"/>
                    <a:pt x="13665708" y="6188075"/>
                  </a:cubicBezTo>
                  <a:lnTo>
                    <a:pt x="243967" y="6188075"/>
                  </a:lnTo>
                  <a:cubicBezTo>
                    <a:pt x="109220" y="6188202"/>
                    <a:pt x="0" y="6078855"/>
                    <a:pt x="0" y="594410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678939" y="2281978"/>
          <a:ext cx="9418058" cy="3698590"/>
        </p:xfrm>
        <a:graphic>
          <a:graphicData uri="http://schemas.openxmlformats.org/drawingml/2006/table">
            <a:tbl>
              <a:tblPr/>
              <a:tblGrid>
                <a:gridCol w="2270791"/>
                <a:gridCol w="3573486"/>
                <a:gridCol w="3573780"/>
              </a:tblGrid>
              <a:tr h="743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Item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Weight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Value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743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743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743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7254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F3B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17701755" y="9797415"/>
            <a:ext cx="600085" cy="308762"/>
            <a:chOff x="0" y="0"/>
            <a:chExt cx="800113" cy="4116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0109" cy="411682"/>
            </a:xfrm>
            <a:custGeom>
              <a:avLst/>
              <a:gdLst/>
              <a:ahLst/>
              <a:cxnLst/>
              <a:rect r="r" b="b" t="t" l="l"/>
              <a:pathLst>
                <a:path h="411682" w="800109">
                  <a:moveTo>
                    <a:pt x="0" y="0"/>
                  </a:moveTo>
                  <a:lnTo>
                    <a:pt x="800109" y="0"/>
                  </a:lnTo>
                  <a:lnTo>
                    <a:pt x="800109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16" t="0" r="-1601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0113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822598"/>
            <a:ext cx="16929202" cy="169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Dynamic programming avoids repeated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7255" y="2724198"/>
            <a:ext cx="5376167" cy="4399817"/>
            <a:chOff x="0" y="0"/>
            <a:chExt cx="7168223" cy="5866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68135" cy="5866384"/>
            </a:xfrm>
            <a:custGeom>
              <a:avLst/>
              <a:gdLst/>
              <a:ahLst/>
              <a:cxnLst/>
              <a:rect r="r" b="b" t="t" l="l"/>
              <a:pathLst>
                <a:path h="5866384" w="7168135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974332" y="0"/>
                  </a:lnTo>
                  <a:cubicBezTo>
                    <a:pt x="7081393" y="0"/>
                    <a:pt x="7168135" y="86741"/>
                    <a:pt x="7168135" y="193802"/>
                  </a:cubicBezTo>
                  <a:lnTo>
                    <a:pt x="7168135" y="5672582"/>
                  </a:lnTo>
                  <a:cubicBezTo>
                    <a:pt x="7168135" y="5779643"/>
                    <a:pt x="7081393" y="5866384"/>
                    <a:pt x="6974332" y="5866384"/>
                  </a:cubicBezTo>
                  <a:lnTo>
                    <a:pt x="193802" y="5866384"/>
                  </a:lnTo>
                  <a:cubicBezTo>
                    <a:pt x="86741" y="5866384"/>
                    <a:pt x="0" y="5779643"/>
                    <a:pt x="0" y="5672582"/>
                  </a:cubicBezTo>
                  <a:close/>
                </a:path>
              </a:pathLst>
            </a:custGeom>
            <a:solidFill>
              <a:srgbClr val="F7FAF4"/>
            </a:solidFill>
            <a:ln w="38128" cap="sq">
              <a:solidFill>
                <a:srgbClr val="47736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24452" y="2781386"/>
            <a:ext cx="5261781" cy="1029500"/>
            <a:chOff x="0" y="0"/>
            <a:chExt cx="7015709" cy="1372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5734" cy="1372743"/>
            </a:xfrm>
            <a:custGeom>
              <a:avLst/>
              <a:gdLst/>
              <a:ahLst/>
              <a:cxnLst/>
              <a:rect r="r" b="b" t="t" l="l"/>
              <a:pathLst>
                <a:path h="1372743" w="7015734">
                  <a:moveTo>
                    <a:pt x="102997" y="0"/>
                  </a:moveTo>
                  <a:lnTo>
                    <a:pt x="6912737" y="0"/>
                  </a:lnTo>
                  <a:cubicBezTo>
                    <a:pt x="6969633" y="0"/>
                    <a:pt x="7015734" y="46101"/>
                    <a:pt x="7015734" y="102997"/>
                  </a:cubicBezTo>
                  <a:lnTo>
                    <a:pt x="7015734" y="1372743"/>
                  </a:lnTo>
                  <a:lnTo>
                    <a:pt x="0" y="1372743"/>
                  </a:lnTo>
                  <a:lnTo>
                    <a:pt x="0" y="102997"/>
                  </a:lnTo>
                  <a:cubicBezTo>
                    <a:pt x="0" y="46101"/>
                    <a:pt x="46101" y="0"/>
                    <a:pt x="102997" y="0"/>
                  </a:cubicBezTo>
                  <a:close/>
                </a:path>
              </a:pathLst>
            </a:custGeom>
            <a:solidFill>
              <a:srgbClr val="2E5A4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257188" y="3095920"/>
            <a:ext cx="1111244" cy="4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610" y="3888629"/>
            <a:ext cx="4575458" cy="6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Brute force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7610" y="4687834"/>
            <a:ext cx="4575458" cy="9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Brute force checks 2^N combinations.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62836" y="2724198"/>
            <a:ext cx="5376167" cy="4399817"/>
            <a:chOff x="0" y="0"/>
            <a:chExt cx="7168223" cy="58664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68135" cy="5866384"/>
            </a:xfrm>
            <a:custGeom>
              <a:avLst/>
              <a:gdLst/>
              <a:ahLst/>
              <a:cxnLst/>
              <a:rect r="r" b="b" t="t" l="l"/>
              <a:pathLst>
                <a:path h="5866384" w="7168135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974332" y="0"/>
                  </a:lnTo>
                  <a:cubicBezTo>
                    <a:pt x="7081393" y="0"/>
                    <a:pt x="7168135" y="86741"/>
                    <a:pt x="7168135" y="193802"/>
                  </a:cubicBezTo>
                  <a:lnTo>
                    <a:pt x="7168135" y="5672582"/>
                  </a:lnTo>
                  <a:cubicBezTo>
                    <a:pt x="7168135" y="5779643"/>
                    <a:pt x="7081393" y="5866384"/>
                    <a:pt x="6974332" y="5866384"/>
                  </a:cubicBezTo>
                  <a:lnTo>
                    <a:pt x="193802" y="5866384"/>
                  </a:lnTo>
                  <a:cubicBezTo>
                    <a:pt x="86741" y="5866384"/>
                    <a:pt x="0" y="5779643"/>
                    <a:pt x="0" y="5672582"/>
                  </a:cubicBezTo>
                  <a:close/>
                </a:path>
              </a:pathLst>
            </a:custGeom>
            <a:solidFill>
              <a:srgbClr val="F7FAF4"/>
            </a:solidFill>
            <a:ln w="38128" cap="sq">
              <a:solidFill>
                <a:srgbClr val="47736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20034" y="2781386"/>
            <a:ext cx="5261781" cy="1029500"/>
            <a:chOff x="0" y="0"/>
            <a:chExt cx="7015709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5734" cy="1372743"/>
            </a:xfrm>
            <a:custGeom>
              <a:avLst/>
              <a:gdLst/>
              <a:ahLst/>
              <a:cxnLst/>
              <a:rect r="r" b="b" t="t" l="l"/>
              <a:pathLst>
                <a:path h="1372743" w="7015734">
                  <a:moveTo>
                    <a:pt x="102997" y="0"/>
                  </a:moveTo>
                  <a:lnTo>
                    <a:pt x="6912737" y="0"/>
                  </a:lnTo>
                  <a:cubicBezTo>
                    <a:pt x="6969633" y="0"/>
                    <a:pt x="7015734" y="46101"/>
                    <a:pt x="7015734" y="102997"/>
                  </a:cubicBezTo>
                  <a:lnTo>
                    <a:pt x="7015734" y="1372743"/>
                  </a:lnTo>
                  <a:lnTo>
                    <a:pt x="0" y="1372743"/>
                  </a:lnTo>
                  <a:lnTo>
                    <a:pt x="0" y="102997"/>
                  </a:lnTo>
                  <a:cubicBezTo>
                    <a:pt x="0" y="46101"/>
                    <a:pt x="46101" y="0"/>
                    <a:pt x="102997" y="0"/>
                  </a:cubicBezTo>
                  <a:close/>
                </a:path>
              </a:pathLst>
            </a:custGeom>
            <a:solidFill>
              <a:srgbClr val="2E5A4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999601" y="3095920"/>
            <a:ext cx="1217590" cy="4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63191" y="3888629"/>
            <a:ext cx="4575458" cy="124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 smaller answers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63191" y="5282565"/>
            <a:ext cx="4575458" cy="144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Dynamic programming solves smaller subproblems first.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58418" y="2724198"/>
            <a:ext cx="5376167" cy="4399817"/>
            <a:chOff x="0" y="0"/>
            <a:chExt cx="7168223" cy="58664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68135" cy="5866384"/>
            </a:xfrm>
            <a:custGeom>
              <a:avLst/>
              <a:gdLst/>
              <a:ahLst/>
              <a:cxnLst/>
              <a:rect r="r" b="b" t="t" l="l"/>
              <a:pathLst>
                <a:path h="5866384" w="7168135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974332" y="0"/>
                  </a:lnTo>
                  <a:cubicBezTo>
                    <a:pt x="7081393" y="0"/>
                    <a:pt x="7168135" y="86741"/>
                    <a:pt x="7168135" y="193802"/>
                  </a:cubicBezTo>
                  <a:lnTo>
                    <a:pt x="7168135" y="5672582"/>
                  </a:lnTo>
                  <a:cubicBezTo>
                    <a:pt x="7168135" y="5779643"/>
                    <a:pt x="7081393" y="5866384"/>
                    <a:pt x="6974332" y="5866384"/>
                  </a:cubicBezTo>
                  <a:lnTo>
                    <a:pt x="193802" y="5866384"/>
                  </a:lnTo>
                  <a:cubicBezTo>
                    <a:pt x="86741" y="5866384"/>
                    <a:pt x="0" y="5779643"/>
                    <a:pt x="0" y="5672582"/>
                  </a:cubicBezTo>
                  <a:close/>
                </a:path>
              </a:pathLst>
            </a:custGeom>
            <a:solidFill>
              <a:srgbClr val="F7FAF4"/>
            </a:solidFill>
            <a:ln w="38128" cap="sq">
              <a:solidFill>
                <a:srgbClr val="47736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15615" y="2781386"/>
            <a:ext cx="5261781" cy="1029500"/>
            <a:chOff x="0" y="0"/>
            <a:chExt cx="7015709" cy="13726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5734" cy="1372743"/>
            </a:xfrm>
            <a:custGeom>
              <a:avLst/>
              <a:gdLst/>
              <a:ahLst/>
              <a:cxnLst/>
              <a:rect r="r" b="b" t="t" l="l"/>
              <a:pathLst>
                <a:path h="1372743" w="7015734">
                  <a:moveTo>
                    <a:pt x="102997" y="0"/>
                  </a:moveTo>
                  <a:lnTo>
                    <a:pt x="6912737" y="0"/>
                  </a:lnTo>
                  <a:cubicBezTo>
                    <a:pt x="6969633" y="0"/>
                    <a:pt x="7015734" y="46101"/>
                    <a:pt x="7015734" y="102997"/>
                  </a:cubicBezTo>
                  <a:lnTo>
                    <a:pt x="7015734" y="1372743"/>
                  </a:lnTo>
                  <a:lnTo>
                    <a:pt x="0" y="1372743"/>
                  </a:lnTo>
                  <a:lnTo>
                    <a:pt x="0" y="102997"/>
                  </a:lnTo>
                  <a:cubicBezTo>
                    <a:pt x="0" y="46101"/>
                    <a:pt x="46101" y="0"/>
                    <a:pt x="102997" y="0"/>
                  </a:cubicBezTo>
                  <a:close/>
                </a:path>
              </a:pathLst>
            </a:custGeom>
            <a:solidFill>
              <a:srgbClr val="2E5A4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793992" y="3095920"/>
            <a:ext cx="1219972" cy="4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58773" y="3888629"/>
            <a:ext cx="4575458" cy="6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58773" y="4687834"/>
            <a:ext cx="4575458" cy="9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reuses results instead of recalculating them.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6324" y="7371855"/>
            <a:ext cx="16929202" cy="1149553"/>
            <a:chOff x="0" y="0"/>
            <a:chExt cx="22572269" cy="15327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572218" cy="1532763"/>
            </a:xfrm>
            <a:custGeom>
              <a:avLst/>
              <a:gdLst/>
              <a:ahLst/>
              <a:cxnLst/>
              <a:rect r="r" b="b" t="t" l="l"/>
              <a:pathLst>
                <a:path h="1532763" w="22572218">
                  <a:moveTo>
                    <a:pt x="0" y="0"/>
                  </a:moveTo>
                  <a:lnTo>
                    <a:pt x="22572218" y="0"/>
                  </a:lnTo>
                  <a:lnTo>
                    <a:pt x="22572218" y="1532763"/>
                  </a:lnTo>
                  <a:lnTo>
                    <a:pt x="0" y="1532763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43867" y="7663596"/>
            <a:ext cx="16471659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dp[i][w]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 best value using the first i items with capacity w.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700860" y="9797415"/>
            <a:ext cx="600980" cy="308762"/>
            <a:chOff x="0" y="0"/>
            <a:chExt cx="801306" cy="4116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1302" cy="411682"/>
            </a:xfrm>
            <a:custGeom>
              <a:avLst/>
              <a:gdLst/>
              <a:ahLst/>
              <a:cxnLst/>
              <a:rect r="r" b="b" t="t" l="l"/>
              <a:pathLst>
                <a:path h="411682" w="801302">
                  <a:moveTo>
                    <a:pt x="0" y="0"/>
                  </a:moveTo>
                  <a:lnTo>
                    <a:pt x="801302" y="0"/>
                  </a:lnTo>
                  <a:lnTo>
                    <a:pt x="801302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917" t="0" r="-1591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01306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3214497"/>
            <a:ext cx="8609524" cy="169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 each item, skip it or take 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324" y="5078006"/>
            <a:ext cx="8609524" cy="213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b="true" sz="2702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Skip: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dp[i-1][w]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b="true" sz="2702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Take: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val[i-1] + dp[i-1][w - wt[i-1]]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Pick the larger value.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If the item is heavier than w, it cannot be taken.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54648" y="3608632"/>
            <a:ext cx="6260878" cy="3077785"/>
            <a:chOff x="0" y="0"/>
            <a:chExt cx="8347837" cy="410371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347837" cy="4103751"/>
            </a:xfrm>
            <a:custGeom>
              <a:avLst/>
              <a:gdLst/>
              <a:ahLst/>
              <a:cxnLst/>
              <a:rect r="r" b="b" t="t" l="l"/>
              <a:pathLst>
                <a:path h="4103751" w="8347837">
                  <a:moveTo>
                    <a:pt x="0" y="0"/>
                  </a:moveTo>
                  <a:lnTo>
                    <a:pt x="8347837" y="0"/>
                  </a:lnTo>
                  <a:lnTo>
                    <a:pt x="8347837" y="4103751"/>
                  </a:lnTo>
                  <a:lnTo>
                    <a:pt x="0" y="410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8" r="0" b="-15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26060" y="5939428"/>
            <a:ext cx="2897800" cy="24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 spc="-19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Current Item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26060" y="6225207"/>
            <a:ext cx="2897800" cy="18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9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Consider item i and capacity 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788427" y="5925150"/>
            <a:ext cx="206607" cy="206607"/>
            <a:chOff x="0" y="0"/>
            <a:chExt cx="275476" cy="27547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75463" cy="275463"/>
            </a:xfrm>
            <a:custGeom>
              <a:avLst/>
              <a:gdLst/>
              <a:ahLst/>
              <a:cxnLst/>
              <a:rect r="r" b="b" t="t" l="l"/>
              <a:pathLst>
                <a:path h="275463" w="275463">
                  <a:moveTo>
                    <a:pt x="0" y="0"/>
                  </a:moveTo>
                  <a:lnTo>
                    <a:pt x="275463" y="0"/>
                  </a:lnTo>
                  <a:lnTo>
                    <a:pt x="275463" y="275463"/>
                  </a:lnTo>
                  <a:lnTo>
                    <a:pt x="0" y="27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3" b="-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419802" y="5219424"/>
            <a:ext cx="2897800" cy="24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 spc="-19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Skip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19802" y="5505212"/>
            <a:ext cx="2897800" cy="18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9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Use dp[i-1][w]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88427" y="5205155"/>
            <a:ext cx="206607" cy="206607"/>
            <a:chOff x="0" y="0"/>
            <a:chExt cx="275476" cy="27547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75463" cy="275463"/>
            </a:xfrm>
            <a:custGeom>
              <a:avLst/>
              <a:gdLst/>
              <a:ahLst/>
              <a:cxnLst/>
              <a:rect r="r" b="b" t="t" l="l"/>
              <a:pathLst>
                <a:path h="275463" w="275463">
                  <a:moveTo>
                    <a:pt x="0" y="0"/>
                  </a:moveTo>
                  <a:lnTo>
                    <a:pt x="275463" y="0"/>
                  </a:lnTo>
                  <a:lnTo>
                    <a:pt x="275463" y="275463"/>
                  </a:lnTo>
                  <a:lnTo>
                    <a:pt x="0" y="27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3" b="-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419802" y="4505687"/>
            <a:ext cx="2897800" cy="24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 spc="-19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Take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19802" y="4791466"/>
            <a:ext cx="2897800" cy="18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9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val[i-1] + dp[i-1][w - wt[i-1]]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88427" y="4585325"/>
            <a:ext cx="206607" cy="206607"/>
            <a:chOff x="0" y="0"/>
            <a:chExt cx="275476" cy="27547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75463" cy="275463"/>
            </a:xfrm>
            <a:custGeom>
              <a:avLst/>
              <a:gdLst/>
              <a:ahLst/>
              <a:cxnLst/>
              <a:rect r="r" b="b" t="t" l="l"/>
              <a:pathLst>
                <a:path h="275463" w="275463">
                  <a:moveTo>
                    <a:pt x="0" y="0"/>
                  </a:moveTo>
                  <a:lnTo>
                    <a:pt x="275463" y="0"/>
                  </a:lnTo>
                  <a:lnTo>
                    <a:pt x="275463" y="275463"/>
                  </a:lnTo>
                  <a:lnTo>
                    <a:pt x="0" y="27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3" b="-4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419802" y="3785683"/>
            <a:ext cx="2897800" cy="24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 spc="-19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Compare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9802" y="4071461"/>
            <a:ext cx="2897800" cy="18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9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Choose max of Skip and Take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788427" y="3965496"/>
            <a:ext cx="206607" cy="206607"/>
            <a:chOff x="0" y="0"/>
            <a:chExt cx="275476" cy="27547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75463" cy="275463"/>
            </a:xfrm>
            <a:custGeom>
              <a:avLst/>
              <a:gdLst/>
              <a:ahLst/>
              <a:cxnLst/>
              <a:rect r="r" b="b" t="t" l="l"/>
              <a:pathLst>
                <a:path h="275463" w="275463">
                  <a:moveTo>
                    <a:pt x="0" y="0"/>
                  </a:moveTo>
                  <a:lnTo>
                    <a:pt x="275463" y="0"/>
                  </a:lnTo>
                  <a:lnTo>
                    <a:pt x="275463" y="275463"/>
                  </a:lnTo>
                  <a:lnTo>
                    <a:pt x="0" y="27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3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697440" y="9797415"/>
            <a:ext cx="604399" cy="308762"/>
            <a:chOff x="0" y="0"/>
            <a:chExt cx="805866" cy="4116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5870" cy="411682"/>
            </a:xfrm>
            <a:custGeom>
              <a:avLst/>
              <a:gdLst/>
              <a:ahLst/>
              <a:cxnLst/>
              <a:rect r="r" b="b" t="t" l="l"/>
              <a:pathLst>
                <a:path h="411682" w="805870">
                  <a:moveTo>
                    <a:pt x="0" y="0"/>
                  </a:moveTo>
                  <a:lnTo>
                    <a:pt x="805870" y="0"/>
                  </a:lnTo>
                  <a:lnTo>
                    <a:pt x="805870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5544" t="0" r="-1554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05866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1918087"/>
            <a:ext cx="10077479" cy="81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 Code, Part 1: Setup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24" y="3048591"/>
            <a:ext cx="10077479" cy="5078416"/>
            <a:chOff x="0" y="0"/>
            <a:chExt cx="13436638" cy="6771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36600" cy="6771132"/>
            </a:xfrm>
            <a:custGeom>
              <a:avLst/>
              <a:gdLst/>
              <a:ahLst/>
              <a:cxnLst/>
              <a:rect r="r" b="b" t="t" l="l"/>
              <a:pathLst>
                <a:path h="6771132" w="13436600">
                  <a:moveTo>
                    <a:pt x="0" y="192151"/>
                  </a:moveTo>
                  <a:cubicBezTo>
                    <a:pt x="0" y="85979"/>
                    <a:pt x="85979" y="0"/>
                    <a:pt x="192151" y="0"/>
                  </a:cubicBezTo>
                  <a:lnTo>
                    <a:pt x="13244449" y="0"/>
                  </a:lnTo>
                  <a:cubicBezTo>
                    <a:pt x="13350621" y="0"/>
                    <a:pt x="13436600" y="85979"/>
                    <a:pt x="13436600" y="192151"/>
                  </a:cubicBezTo>
                  <a:lnTo>
                    <a:pt x="13436600" y="6578981"/>
                  </a:lnTo>
                  <a:cubicBezTo>
                    <a:pt x="13436600" y="6685153"/>
                    <a:pt x="13350621" y="6771132"/>
                    <a:pt x="13244449" y="6771132"/>
                  </a:cubicBezTo>
                  <a:lnTo>
                    <a:pt x="192151" y="6771132"/>
                  </a:lnTo>
                  <a:cubicBezTo>
                    <a:pt x="85979" y="6771259"/>
                    <a:pt x="0" y="6685153"/>
                    <a:pt x="0" y="6579108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7994" y="3229842"/>
            <a:ext cx="9254138" cy="455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#define N 4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#define W 8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int max(int a, int b) { return a &gt; b ? a : b; }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  int wt[N]  = {1, 3, 4, 5};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  int val[N] = {10, 40, 50, 70};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  int dp[N + 1][W + 1];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2612" y="3586334"/>
            <a:ext cx="4792913" cy="306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stdio.h: enables printf.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N and W: item count and bag capacity.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wt, val: the input arrays.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dp: stores the best answers.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693716" y="9797415"/>
            <a:ext cx="608124" cy="308762"/>
            <a:chOff x="0" y="0"/>
            <a:chExt cx="810832" cy="4116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0833" cy="411682"/>
            </a:xfrm>
            <a:custGeom>
              <a:avLst/>
              <a:gdLst/>
              <a:ahLst/>
              <a:cxnLst/>
              <a:rect r="r" b="b" t="t" l="l"/>
              <a:pathLst>
                <a:path h="411682" w="810833">
                  <a:moveTo>
                    <a:pt x="0" y="0"/>
                  </a:moveTo>
                  <a:lnTo>
                    <a:pt x="810833" y="0"/>
                  </a:lnTo>
                  <a:lnTo>
                    <a:pt x="810833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3" t="0" r="-1514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0832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491066" cy="10295039"/>
            <a:chOff x="0" y="0"/>
            <a:chExt cx="1665475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5478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654780">
                  <a:moveTo>
                    <a:pt x="0" y="0"/>
                  </a:moveTo>
                  <a:lnTo>
                    <a:pt x="16654780" y="0"/>
                  </a:lnTo>
                  <a:lnTo>
                    <a:pt x="1665478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24" y="822598"/>
            <a:ext cx="11118428" cy="81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 Code, Part 2: The Loops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324" y="1910210"/>
            <a:ext cx="11118428" cy="5305996"/>
            <a:chOff x="0" y="0"/>
            <a:chExt cx="14824570" cy="7074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24582" cy="7074662"/>
            </a:xfrm>
            <a:custGeom>
              <a:avLst/>
              <a:gdLst/>
              <a:ahLst/>
              <a:cxnLst/>
              <a:rect r="r" b="b" t="t" l="l"/>
              <a:pathLst>
                <a:path h="7074662" w="14824582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4653768" y="0"/>
                  </a:lnTo>
                  <a:cubicBezTo>
                    <a:pt x="14748129" y="0"/>
                    <a:pt x="14824582" y="76454"/>
                    <a:pt x="14824582" y="170815"/>
                  </a:cubicBezTo>
                  <a:lnTo>
                    <a:pt x="14824582" y="6903847"/>
                  </a:lnTo>
                  <a:cubicBezTo>
                    <a:pt x="14824582" y="6998208"/>
                    <a:pt x="14748129" y="7074662"/>
                    <a:pt x="14653768" y="7074662"/>
                  </a:cubicBezTo>
                  <a:lnTo>
                    <a:pt x="170815" y="7074662"/>
                  </a:lnTo>
                  <a:cubicBezTo>
                    <a:pt x="76454" y="7074662"/>
                    <a:pt x="0" y="6998208"/>
                    <a:pt x="0" y="6903847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52265" y="2216172"/>
            <a:ext cx="10386536" cy="472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&lt;= N; i++) {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for (int w = 0; w &lt;= W; w++) {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if (i == 0 || w == 0)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dp[i][w] = 0;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else if (wt[i - 1] &lt;= w)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dp[i][w] = max(val[i - 1] + dp[i - 1][w - wt[i - 1]],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dp[i - 1][w]);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else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dp[i][w] = dp[i - 1][w];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printf("Maximum value = %d\\n", dp[N][W]);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</a:p>
          <a:p>
            <a:pPr algn="l">
              <a:lnSpc>
                <a:spcPts val="2651"/>
              </a:lnSpc>
            </a:pPr>
            <a:r>
              <a:rPr lang="en-US" sz="24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48466" y="0"/>
            <a:ext cx="5353374" cy="1383992"/>
            <a:chOff x="0" y="0"/>
            <a:chExt cx="7137832" cy="1845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7781" cy="1845310"/>
            </a:xfrm>
            <a:custGeom>
              <a:avLst/>
              <a:gdLst/>
              <a:ahLst/>
              <a:cxnLst/>
              <a:rect r="r" b="b" t="t" l="l"/>
              <a:pathLst>
                <a:path h="1845310" w="7137781">
                  <a:moveTo>
                    <a:pt x="0" y="0"/>
                  </a:moveTo>
                  <a:lnTo>
                    <a:pt x="7137781" y="0"/>
                  </a:lnTo>
                  <a:lnTo>
                    <a:pt x="7137781" y="1845310"/>
                  </a:lnTo>
                  <a:lnTo>
                    <a:pt x="0" y="184531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15366" y="177346"/>
            <a:ext cx="4819574" cy="9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Base case: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 items or zero capacity.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948466" y="1612773"/>
            <a:ext cx="5353374" cy="920772"/>
            <a:chOff x="0" y="0"/>
            <a:chExt cx="7137832" cy="12276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7781" cy="1227709"/>
            </a:xfrm>
            <a:custGeom>
              <a:avLst/>
              <a:gdLst/>
              <a:ahLst/>
              <a:cxnLst/>
              <a:rect r="r" b="b" t="t" l="l"/>
              <a:pathLst>
                <a:path h="1227709" w="7137781">
                  <a:moveTo>
                    <a:pt x="0" y="0"/>
                  </a:moveTo>
                  <a:lnTo>
                    <a:pt x="7137781" y="0"/>
                  </a:lnTo>
                  <a:lnTo>
                    <a:pt x="7137781" y="1227709"/>
                  </a:lnTo>
                  <a:lnTo>
                    <a:pt x="0" y="1227709"/>
                  </a:lnTo>
                  <a:close/>
                </a:path>
              </a:pathLst>
            </a:custGeom>
            <a:solidFill>
              <a:srgbClr val="62C3F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215366" y="1790119"/>
            <a:ext cx="5086474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Fits: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compare take vs skip.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948466" y="2762326"/>
            <a:ext cx="5353374" cy="1383992"/>
            <a:chOff x="0" y="0"/>
            <a:chExt cx="7137832" cy="18453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7781" cy="1845310"/>
            </a:xfrm>
            <a:custGeom>
              <a:avLst/>
              <a:gdLst/>
              <a:ahLst/>
              <a:cxnLst/>
              <a:rect r="r" b="b" t="t" l="l"/>
              <a:pathLst>
                <a:path h="1845310" w="7137781">
                  <a:moveTo>
                    <a:pt x="0" y="0"/>
                  </a:moveTo>
                  <a:lnTo>
                    <a:pt x="7137781" y="0"/>
                  </a:lnTo>
                  <a:lnTo>
                    <a:pt x="7137781" y="1845310"/>
                  </a:lnTo>
                  <a:lnTo>
                    <a:pt x="0" y="1845310"/>
                  </a:lnTo>
                  <a:close/>
                </a:path>
              </a:pathLst>
            </a:custGeom>
            <a:solidFill>
              <a:srgbClr val="FF7F6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15366" y="2939672"/>
            <a:ext cx="4819574" cy="9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Does not fit: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carry the previous best.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720081" y="9797415"/>
            <a:ext cx="581758" cy="308762"/>
            <a:chOff x="0" y="0"/>
            <a:chExt cx="775678" cy="4116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5684" cy="411682"/>
            </a:xfrm>
            <a:custGeom>
              <a:avLst/>
              <a:gdLst/>
              <a:ahLst/>
              <a:cxnLst/>
              <a:rect r="r" b="b" t="t" l="l"/>
              <a:pathLst>
                <a:path h="411682" w="775684">
                  <a:moveTo>
                    <a:pt x="0" y="0"/>
                  </a:moveTo>
                  <a:lnTo>
                    <a:pt x="775684" y="0"/>
                  </a:lnTo>
                  <a:lnTo>
                    <a:pt x="77568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95" t="0" r="-1809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75678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822598"/>
            <a:ext cx="16929202" cy="81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answer is 110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24" y="2581504"/>
            <a:ext cx="5216052" cy="919286"/>
            <a:chOff x="0" y="0"/>
            <a:chExt cx="6954736" cy="1225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54774" cy="1225804"/>
            </a:xfrm>
            <a:custGeom>
              <a:avLst/>
              <a:gdLst/>
              <a:ahLst/>
              <a:cxnLst/>
              <a:rect r="r" b="b" t="t" l="l"/>
              <a:pathLst>
                <a:path h="1225804" w="6954774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6800977" y="0"/>
                  </a:lnTo>
                  <a:cubicBezTo>
                    <a:pt x="6885940" y="0"/>
                    <a:pt x="6954774" y="68834"/>
                    <a:pt x="6954774" y="153797"/>
                  </a:cubicBezTo>
                  <a:lnTo>
                    <a:pt x="6954774" y="1072007"/>
                  </a:lnTo>
                  <a:cubicBezTo>
                    <a:pt x="6954774" y="1156970"/>
                    <a:pt x="6885940" y="1225804"/>
                    <a:pt x="6800977" y="1225804"/>
                  </a:cubicBezTo>
                  <a:lnTo>
                    <a:pt x="153797" y="1225804"/>
                  </a:lnTo>
                  <a:cubicBezTo>
                    <a:pt x="68834" y="1225677"/>
                    <a:pt x="0" y="1156843"/>
                    <a:pt x="0" y="1072007"/>
                  </a:cubicBezTo>
                  <a:close/>
                </a:path>
              </a:pathLst>
            </a:custGeom>
            <a:solidFill>
              <a:srgbClr val="36410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2159" y="2650046"/>
            <a:ext cx="4804381" cy="7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2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Terminal output: Maximum value = 110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324" y="3615223"/>
            <a:ext cx="5216052" cy="206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Best choice: item with weight 3 + item with weight 5.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Total weight: 8</a:t>
            </a:r>
          </a:p>
          <a:p>
            <a:pPr algn="l" marL="489395" indent="-244697" lvl="1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Total value: 40 + 70 = 110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6324" y="5797915"/>
            <a:ext cx="5216052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Highlight answer cell dp[4][8].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59776" y="1862547"/>
            <a:ext cx="11255750" cy="5168970"/>
            <a:chOff x="0" y="0"/>
            <a:chExt cx="15007666" cy="6891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07717" cy="6892036"/>
            </a:xfrm>
            <a:custGeom>
              <a:avLst/>
              <a:gdLst/>
              <a:ahLst/>
              <a:cxnLst/>
              <a:rect r="r" b="b" t="t" l="l"/>
              <a:pathLst>
                <a:path h="6892036" w="15007717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14763623" y="0"/>
                  </a:lnTo>
                  <a:cubicBezTo>
                    <a:pt x="14898370" y="0"/>
                    <a:pt x="15007717" y="109220"/>
                    <a:pt x="15007717" y="244094"/>
                  </a:cubicBezTo>
                  <a:lnTo>
                    <a:pt x="15007717" y="6647942"/>
                  </a:lnTo>
                  <a:cubicBezTo>
                    <a:pt x="15007717" y="6782689"/>
                    <a:pt x="14898497" y="6892036"/>
                    <a:pt x="14763623" y="6892036"/>
                  </a:cubicBezTo>
                  <a:lnTo>
                    <a:pt x="244094" y="6892036"/>
                  </a:lnTo>
                  <a:cubicBezTo>
                    <a:pt x="109220" y="6891909"/>
                    <a:pt x="0" y="6782689"/>
                    <a:pt x="0" y="6647942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702930" y="2167588"/>
          <a:ext cx="10600081" cy="4442120"/>
        </p:xfrm>
        <a:graphic>
          <a:graphicData uri="http://schemas.openxmlformats.org/drawingml/2006/table">
            <a:tbl>
              <a:tblPr/>
              <a:tblGrid>
                <a:gridCol w="1129225"/>
                <a:gridCol w="738307"/>
                <a:gridCol w="933696"/>
                <a:gridCol w="933696"/>
                <a:gridCol w="933696"/>
                <a:gridCol w="933696"/>
                <a:gridCol w="933696"/>
                <a:gridCol w="933696"/>
                <a:gridCol w="933696"/>
                <a:gridCol w="1129225"/>
                <a:gridCol w="542776"/>
                <a:gridCol w="524679"/>
              </a:tblGrid>
              <a:tr h="743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i\w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</a:tr>
              <a:tr h="743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</a:tr>
              <a:tr h="743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</a:tr>
              <a:tr h="743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</a:tr>
              <a:tr h="743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</a:tr>
              <a:tr h="725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110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7697440" y="9797415"/>
            <a:ext cx="604399" cy="308762"/>
            <a:chOff x="0" y="0"/>
            <a:chExt cx="805866" cy="411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5870" cy="411682"/>
            </a:xfrm>
            <a:custGeom>
              <a:avLst/>
              <a:gdLst/>
              <a:ahLst/>
              <a:cxnLst/>
              <a:rect r="r" b="b" t="t" l="l"/>
              <a:pathLst>
                <a:path h="411682" w="805870">
                  <a:moveTo>
                    <a:pt x="0" y="0"/>
                  </a:moveTo>
                  <a:lnTo>
                    <a:pt x="805870" y="0"/>
                  </a:lnTo>
                  <a:lnTo>
                    <a:pt x="805870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44" t="0" r="-1554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05866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822598"/>
            <a:ext cx="16929202" cy="81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Complexity and real-world uses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24" y="1862547"/>
            <a:ext cx="4003529" cy="4341886"/>
            <a:chOff x="0" y="0"/>
            <a:chExt cx="5338039" cy="57891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8064" cy="5789168"/>
            </a:xfrm>
            <a:custGeom>
              <a:avLst/>
              <a:gdLst/>
              <a:ahLst/>
              <a:cxnLst/>
              <a:rect r="r" b="b" t="t" l="l"/>
              <a:pathLst>
                <a:path h="5789168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5789168"/>
                  </a:lnTo>
                  <a:lnTo>
                    <a:pt x="0" y="5789168"/>
                  </a:ln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05738" y="2522582"/>
            <a:ext cx="3164691" cy="186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b="true" sz="7806" spc="-15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O(N x W)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5738" y="4433021"/>
            <a:ext cx="3164691" cy="6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5738" y="5232225"/>
            <a:ext cx="3584115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Time: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O(N x W)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47396" y="1862547"/>
            <a:ext cx="4003529" cy="4341886"/>
            <a:chOff x="0" y="0"/>
            <a:chExt cx="5338039" cy="5789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8064" cy="5789168"/>
            </a:xfrm>
            <a:custGeom>
              <a:avLst/>
              <a:gdLst/>
              <a:ahLst/>
              <a:cxnLst/>
              <a:rect r="r" b="b" t="t" l="l"/>
              <a:pathLst>
                <a:path h="5789168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5789168"/>
                  </a:lnTo>
                  <a:lnTo>
                    <a:pt x="0" y="5789168"/>
                  </a:ln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66810" y="2522582"/>
            <a:ext cx="3164691" cy="186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b="true" sz="7806" spc="-15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O(N x W)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66810" y="4433021"/>
            <a:ext cx="3164691" cy="6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66810" y="5232225"/>
            <a:ext cx="3584115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Space:</a:t>
            </a: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O(N x W)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27882" y="2278685"/>
            <a:ext cx="7168220" cy="6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Where it helps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7882" y="3072174"/>
            <a:ext cx="7168220" cy="208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Uses: budgeting, cargo loading, resource allocation, investment selection.</a:t>
            </a:r>
          </a:p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Variants: fractional knapsack and unbounded knapsack.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93716" y="9797415"/>
            <a:ext cx="608124" cy="308762"/>
            <a:chOff x="0" y="0"/>
            <a:chExt cx="810832" cy="4116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0833" cy="411682"/>
            </a:xfrm>
            <a:custGeom>
              <a:avLst/>
              <a:gdLst/>
              <a:ahLst/>
              <a:cxnLst/>
              <a:rect r="r" b="b" t="t" l="l"/>
              <a:pathLst>
                <a:path h="411682" w="810833">
                  <a:moveTo>
                    <a:pt x="0" y="0"/>
                  </a:moveTo>
                  <a:lnTo>
                    <a:pt x="810833" y="0"/>
                  </a:lnTo>
                  <a:lnTo>
                    <a:pt x="810833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3" t="0" r="-1514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0832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6324" y="3729447"/>
            <a:ext cx="8609524" cy="121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5"/>
              </a:lnSpc>
            </a:pPr>
            <a:r>
              <a:rPr lang="en-US" sz="10808" spc="-2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24" y="5257743"/>
            <a:ext cx="2152193" cy="76114"/>
            <a:chOff x="0" y="0"/>
            <a:chExt cx="2869590" cy="101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69692" cy="101600"/>
            </a:xfrm>
            <a:custGeom>
              <a:avLst/>
              <a:gdLst/>
              <a:ahLst/>
              <a:cxnLst/>
              <a:rect r="r" b="b" t="t" l="l"/>
              <a:pathLst>
                <a:path h="101600" w="286969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818892" y="0"/>
                  </a:lnTo>
                  <a:cubicBezTo>
                    <a:pt x="2846959" y="0"/>
                    <a:pt x="2869692" y="22733"/>
                    <a:pt x="2869692" y="50800"/>
                  </a:cubicBezTo>
                  <a:cubicBezTo>
                    <a:pt x="2869692" y="78867"/>
                    <a:pt x="2846959" y="101600"/>
                    <a:pt x="2818892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354648" y="2045722"/>
            <a:ext cx="1261824" cy="30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54648" y="2488121"/>
            <a:ext cx="6260878" cy="28594"/>
            <a:chOff x="0" y="0"/>
            <a:chExt cx="8347837" cy="3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7837" cy="38100"/>
            </a:xfrm>
            <a:custGeom>
              <a:avLst/>
              <a:gdLst/>
              <a:ahLst/>
              <a:cxnLst/>
              <a:rect r="r" b="b" t="t" l="l"/>
              <a:pathLst>
                <a:path h="38100" w="8347837">
                  <a:moveTo>
                    <a:pt x="0" y="0"/>
                  </a:moveTo>
                  <a:lnTo>
                    <a:pt x="8347837" y="0"/>
                  </a:lnTo>
                  <a:lnTo>
                    <a:pt x="83478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54648" y="2671124"/>
            <a:ext cx="6947192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Choose to take or skip each item.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54648" y="4596546"/>
            <a:ext cx="1330338" cy="30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54648" y="5038944"/>
            <a:ext cx="6260878" cy="28594"/>
            <a:chOff x="0" y="0"/>
            <a:chExt cx="8347837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47837" cy="38100"/>
            </a:xfrm>
            <a:custGeom>
              <a:avLst/>
              <a:gdLst/>
              <a:ahLst/>
              <a:cxnLst/>
              <a:rect r="r" b="b" t="t" l="l"/>
              <a:pathLst>
                <a:path h="38100" w="8347837">
                  <a:moveTo>
                    <a:pt x="0" y="0"/>
                  </a:moveTo>
                  <a:lnTo>
                    <a:pt x="8347837" y="0"/>
                  </a:lnTo>
                  <a:lnTo>
                    <a:pt x="83478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354648" y="5221948"/>
            <a:ext cx="6947192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Build a dp table.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54648" y="7147370"/>
            <a:ext cx="1333767" cy="30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54648" y="7589768"/>
            <a:ext cx="6260878" cy="28594"/>
            <a:chOff x="0" y="0"/>
            <a:chExt cx="8347837" cy="381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47837" cy="38100"/>
            </a:xfrm>
            <a:custGeom>
              <a:avLst/>
              <a:gdLst/>
              <a:ahLst/>
              <a:cxnLst/>
              <a:rect r="r" b="b" t="t" l="l"/>
              <a:pathLst>
                <a:path h="38100" w="8347837">
                  <a:moveTo>
                    <a:pt x="0" y="0"/>
                  </a:moveTo>
                  <a:lnTo>
                    <a:pt x="8347837" y="0"/>
                  </a:lnTo>
                  <a:lnTo>
                    <a:pt x="83478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354648" y="7772771"/>
            <a:ext cx="6947192" cy="5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The answer is in the bottom-right cell.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756267" y="9797415"/>
            <a:ext cx="545573" cy="308762"/>
            <a:chOff x="0" y="0"/>
            <a:chExt cx="727431" cy="4116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426" cy="411682"/>
            </a:xfrm>
            <a:custGeom>
              <a:avLst/>
              <a:gdLst/>
              <a:ahLst/>
              <a:cxnLst/>
              <a:rect r="r" b="b" t="t" l="l"/>
              <a:pathLst>
                <a:path h="411682" w="727426">
                  <a:moveTo>
                    <a:pt x="0" y="0"/>
                  </a:moveTo>
                  <a:lnTo>
                    <a:pt x="727426" y="0"/>
                  </a:lnTo>
                  <a:lnTo>
                    <a:pt x="727426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612" t="0" r="-2261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27431" cy="459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DAHXsVqWd24</dc:identifier>
  <dcterms:modified xsi:type="dcterms:W3CDTF">2011-08-01T06:04:30Z</dcterms:modified>
  <cp:revision>1</cp:revision>
  <dc:title>Knapsack-Problem-in-C-Made-Easy.pptx</dc:title>
</cp:coreProperties>
</file>